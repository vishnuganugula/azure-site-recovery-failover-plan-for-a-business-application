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78D4"/>
                </a:solidFill>
                <a:latin typeface="Segoe UI"/>
              </a:defRPr>
            </a:pPr>
            <a:r>
              <a:t>CLOUD DISASTER RECOVERY &amp; BUSINESS CONTINUITY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Azure Site Recovery Failover Plan</a:t>
            </a:r>
            <a:br/>
            <a:r>
              <a:t>for a Business Application</a:t>
            </a:r>
          </a:p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Automated Multi-Region Replication, Recovery Orchestration, and Failback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10362895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078D4"/>
                </a:solidFill>
                <a:latin typeface="Segoe UI"/>
              </a:defRPr>
            </a:pPr>
            <a:r>
              <a:t>PROJECT METADATA &amp; CANDIDATE DETAILS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Student Name: Praneeth   |   Student ID: 2400030412   |   Email: 2400030412@kluniversity.in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Institution: Koneru Lakshmaiah Education Foundation (KL University)  |  Primary: East US  -&gt;  Target: West 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AZURE SITE RECOVERY FAILOVER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Project Overview &amp;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Azure Site Recovery Failover Plan  |  Department of Computer Science &amp; Engineering  |  Slide 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0078D4"/>
                </a:solidFill>
                <a:latin typeface="Segoe UI"/>
              </a:defRPr>
            </a:pPr>
            <a:r>
              <a:t>CLOUD-NATIVE PROTECTION</a:t>
            </a:r>
          </a:p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Disaster Recovery as a Service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Implements Azure Site Recovery (ASR) to protect critical enterprise workloads.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Eliminates capital expenditure (CapEx) of maintaining secondary physical data centers.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Ensures continuous asynchronous block replication across paired Azure regions (East US to West US).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107C41"/>
                </a:solidFill>
                <a:latin typeface="Segoe UI"/>
              </a:defRPr>
            </a:pPr>
            <a:r>
              <a:t>MINIMAL DOWNTIME &amp; DATA LOSS</a:t>
            </a:r>
          </a:p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Business Continuity Assurance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Provides automated, orchestrated failover during primary datacenter outages.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Satisfies strict Recovery Point Objective (RPO &lt; 15 mins) and Recovery Time Objective (RTO &lt; 30 mins).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Includes automated application-consistent snapshots for database transaction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ZERO-IMPACT COMPLIANCE</a:t>
            </a:r>
          </a:p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Audited &amp; Non-Disruptive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Enables non-disruptive Test Failover drills in isolated test sandboxes without impacting production.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Guarantees seamless re-protection and planned failback when the primary region is restored.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Automated using modular, idempotent Azure CLI scripts for repeatable cloud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AZURE SITE RECOVERY FAILOVER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Statement: Enterprise DR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Azure Site Recovery Failover Plan  |  Department of Computer Science &amp; Engineering  |  Slide 3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       Catastrophic Regional Outages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    Public cloud availability zones do not protect against massive regional fiber cuts, severe climatic events, or widespread power grid collapses.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94360" cy="8412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       Unacceptable Downtime &amp; Revenue Loss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    Manual infrastructure redeployment and bare-metal backup restores require hours or days, causing catastrophic RTO SLA violations.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94360" cy="8412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       Data Corruption &amp; Transaction Drift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    Unsynchronized database backups cause missing transactional journals, inconsistent states, and broken database referential integrity.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594360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698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       High Cost &amp; Operational Risk of DR Drills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    Traditional disaster drills frequently disrupt production or cause unintended outages, deterring compliance audits and testing.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51960"/>
            <a:ext cx="594360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       Disorganized Reverse Recovery (Failback)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    Many organizations lack a validated failback protocol, leading to secondary outages, configuration drift, and lost revenue when attempting to return to primary sites.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594360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AZURE SITE RECOVERY FAILOVER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Project Objectives &amp; Recovery SLA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Azure Site Recovery Failover Plan  |  Department of Computer Science &amp; Engineering  |  Slide 4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078D4"/>
                </a:solidFill>
                <a:latin typeface="Segoe UI"/>
              </a:defRPr>
            </a:pPr>
            <a:r>
              <a:t>CORE PROJECT OBJECTIVES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Architect Symmetrical Multi-Region Infrastructure across East US and West US.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Deploy and configure Azure Site Recovery (ASR) with Recovery Services Vault.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Establish Continuous Block-Level Replication with encrypted staging cache.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Implement Multi-Tier Recovery Plans enforcing ordered database-first boot sequence.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Conduct Zero-Impact Test Failovers in isolated private test virtual networks.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Execute End-to-End Failover and Failback workflows demonstrating complete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371600"/>
            <a:ext cx="42976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RPO (RECOVERY POINT OBJECTIVE)</a:t>
            </a:r>
          </a:p>
          <a:p>
            <a:pPr>
              <a:spcAft>
                <a:spcPts val="200"/>
              </a:spcAft>
              <a:defRPr sz="2200" b="1">
                <a:solidFill>
                  <a:srgbClr val="0078D4"/>
                </a:solidFill>
                <a:latin typeface="Segoe UI"/>
              </a:defRPr>
            </a:pPr>
            <a:r>
              <a:t>&lt; 15 Minutes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Observed: 3 - 5 Minutes via asynchronous log staging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971800"/>
            <a:ext cx="42976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RTO (RECOVERY TIME OBJECTIVE)</a:t>
            </a:r>
          </a:p>
          <a:p>
            <a:pPr>
              <a:spcAft>
                <a:spcPts val="200"/>
              </a:spcAft>
              <a:defRPr sz="2200" b="1">
                <a:solidFill>
                  <a:srgbClr val="107C41"/>
                </a:solidFill>
                <a:latin typeface="Segoe UI"/>
              </a:defRPr>
            </a:pPr>
            <a:r>
              <a:t>&lt; 30 Minutes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Observed: 7 - 10 Minutes automated VM provisioning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4572000"/>
            <a:ext cx="42976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TEST DRILL AVAILABILITY</a:t>
            </a:r>
          </a:p>
          <a:p>
            <a:pPr>
              <a:spcAft>
                <a:spcPts val="200"/>
              </a:spcAft>
              <a:defRPr sz="2200" b="1">
                <a:solidFill>
                  <a:srgbClr val="7C3AED"/>
                </a:solidFill>
                <a:latin typeface="Segoe UI"/>
              </a:defRPr>
            </a:pPr>
            <a:r>
              <a:t>100% Production Uptime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Zero user disruption using isolated test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AZURE SITE RECOVERY FAILOVER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Proposed Solution: Active-Passive DR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Azure Site Recovery Failover Plan  |  Department of Computer Science &amp; Engineering  |  Slide 5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500" b="1">
                <a:solidFill>
                  <a:srgbClr val="0078D4"/>
                </a:solidFill>
                <a:latin typeface="Segoe UI"/>
              </a:defRPr>
            </a:pPr>
            <a:r>
              <a:t>Primary Production (East US)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Primary Resource Group: rg-primary-app-prod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Virtual Network: vnet-primary-eastus (10.10.0.0/16)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Application VM: vm-app-primary (Web &amp; DB layers)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Cache Storage: stgasrcacheeastus (Encrypted write buffer)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ASR Mobility Agent intercepts live block writes without disk degradation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500" b="1">
                <a:solidFill>
                  <a:srgbClr val="7C3AED"/>
                </a:solidFill>
                <a:latin typeface="Segoe UI"/>
              </a:defRPr>
            </a:pPr>
            <a:r>
              <a:t>Replication &amp; Vault Engine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Recovery Services Vault: rsv-businessapp-dr in West US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Continuous asynchronous block streaming over Azure backbone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24-Hour Recovery Point Retention Policy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App-Consistent Snapshots generated hourly via VSS/fsfreeze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Zero compute charge incurred in DR site until failover trigger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500" b="1">
                <a:solidFill>
                  <a:srgbClr val="107C41"/>
                </a:solidFill>
                <a:latin typeface="Segoe UI"/>
              </a:defRPr>
            </a:pPr>
            <a:r>
              <a:t>Target Recovery (West US)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Secondary Resource Group: rg-secondary-app-dr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Recovery VNet: vnet-dr-westus (10.20.0.0/16)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Isolated Test VNet: vnet-testdr-westus (10.30.0.0/16)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Recovery VM: vm-app-secondary dynamically created on failover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Controlled re-protection and seamless failback when primary recovers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AZURE SITE RECOVERY FAILOVER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End-to-End System Architecture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Azure Site Recovery Failover Plan  |  Department of Computer Science &amp; Engineering  |  Slide 6 of 12</a:t>
            </a:r>
          </a:p>
        </p:txBody>
      </p:sp>
      <p:pic>
        <p:nvPicPr>
          <p:cNvPr id="6" name="Picture 5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AZURE SITE RECOVERY FAILOVER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Azure Services Stack: Core vs Supporting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Azure Site Recovery Failover Plan  |  Department of Computer Science &amp; Engineering  |  Slide 7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Azure Site Recovery (ASR)   [Core / Mandatory]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Role: Continuous block replication, snapshot management, and failover orchestration engine.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01368"/>
            <a:ext cx="106984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Recovery Services Vault (RSV)   [Core / Mandatory]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Role: Central control plane and metadata store deployed in West US for regional survivability.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68296"/>
            <a:ext cx="10698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Azure Virtual Machines   [Core / Mandatory]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Role: Primary compute workload (East US) and dynamically provisioned target compute (West US).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35224"/>
            <a:ext cx="106984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Azure Virtual Networks   [Core / Mandatory]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Role: Isolated network topologies (10.10, 10.20, 10.30) preventing IP routing conflicts.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02152"/>
            <a:ext cx="10698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Network Security Groups   [Core / Mandatory]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Role: Stateful packet firewalls enforcing ingress/egress rules across production and DR tiers.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69080"/>
            <a:ext cx="106984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Azure Managed Disks &amp; Cache   [Core / Mandatory]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Role: Premium SSD persistent disks and standard LRS encrypted staging write journal buffer.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36008"/>
            <a:ext cx="10698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Azure Resource Groups   [Core / Mandatory]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Role: Lifecycle and governance boundary separating primary assets from disaster recovery assets.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02936"/>
            <a:ext cx="106984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45309"/>
                </a:solidFill>
                <a:latin typeface="Segoe UI"/>
              </a:defRPr>
            </a:pPr>
            <a:r>
              <a:t>Azure Monitor &amp; Alerts   [Supporting / Recommended]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Role: Real-time replication telemetry, RPO breach thresholds (&gt;15m), and audit trails.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769864"/>
            <a:ext cx="10698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45309"/>
                </a:solidFill>
                <a:latin typeface="Segoe UI"/>
              </a:defRPr>
            </a:pPr>
            <a:r>
              <a:t>Azure Traffic Manager / DNS   [Supporting / Optional]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Role: Automated client redirection and DNS priority routing to active regional endpoints.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AZURE SITE RECOVERY FAILOVER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Five Implementation Tasks (Roadmap)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Azure Site Recovery Failover Plan  |  Department of Computer Science &amp; Engineering  |  Slide 8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            Azure Infrastructure Setup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         Provision primary/secondary Resource Groups, Virtual Networks, Subnets, NSGs, Cache Storage, and primary VM.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188720" cy="84124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TASK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            Configure Azure Site Recovery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         Deploy Recovery Services Vault in West US, configure 24h retention policy, pair containers, and start baseline sync.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188720" cy="84124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TASK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            Create Recovery &amp; Failover Plan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         Codify startup sequence groups (DB tier before Web tier), configure RPO/RTO objectives, and attach automation hooks.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1188720" cy="84124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TASK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            Perform Test Failover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         Execute non-disruptive DR drill into isolated test VNet (10.30.0.0/16); validate web/database functionality; perform cleanup.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51960"/>
            <a:ext cx="1188720" cy="84124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TASK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            Execute Failover and Failback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         Simulate primary failure, execute unplanned failover, redirect user traffic, initiate re-protection, and complete failback.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1188720" cy="84124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TASK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AZURE SITE RECOVERY FAILOVER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Project Modules &amp; Architectural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Azure Site Recovery Failover Plan  |  Department of Computer Science &amp; Engineering  |  Slide 9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0078D4"/>
                </a:solidFill>
                <a:latin typeface="Segoe UI"/>
              </a:defRPr>
            </a:pPr>
            <a:r>
              <a:t>Module 1: Infrastructure Management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Primary Scope: Provisions and maintains regional resource groups, VNets, subnets, NSGs, and staging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07C41"/>
                </a:solidFill>
                <a:latin typeface="Segoe UI"/>
              </a:defRPr>
            </a:pPr>
            <a:r>
              <a:t>Module 2: Application Deployment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Primary Scope: Deploys business application stack, manages local database state, and hosts health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0078D4"/>
                </a:solidFill>
                <a:latin typeface="Segoe UI"/>
              </a:defRPr>
            </a:pPr>
            <a:r>
              <a:t>Module 3: Disaster Recovery / Replication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Primary Scope: Manages ASR replication policies, Mobility agents, target replica disks, and recovery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07C41"/>
                </a:solidFill>
                <a:latin typeface="Segoe UI"/>
              </a:defRPr>
            </a:pPr>
            <a:r>
              <a:t>Module 4: Failover &amp; Failback Management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Primary Scope: Executes multi-tier recovery plans, test failovers, disaster failovers, reverse sync, and failback.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0078D4"/>
                </a:solidFill>
                <a:latin typeface="Segoe UI"/>
              </a:defRPr>
            </a:pPr>
            <a:r>
              <a:t>Module 5: Monitoring and Validation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Primary Scope: Monitors RPO thresholds, conducts HTTP/database probes, audits jobs, and records compliance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AZURE SITE RECOVERY FAILOVER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Failover &amp; Failback Operational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Azure Site Recovery Failover Plan  |  Department of Computer Science &amp; Engineering  |  Slide 10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B192C"/>
                </a:solidFill>
                <a:latin typeface="Segoe UI"/>
              </a:defRPr>
            </a:pPr>
            <a:r>
              <a:t>1. Steady State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Active production in East US; continuous differential block replication to West 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B192C"/>
                </a:solidFill>
                <a:latin typeface="Segoe UI"/>
              </a:defRPr>
            </a:pPr>
            <a:r>
              <a:t>2. Disaster Detected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Outage or maintenance declared; recovery plan triggered in Recovery Services Vault.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B192C"/>
                </a:solidFill>
                <a:latin typeface="Segoe UI"/>
              </a:defRPr>
            </a:pPr>
            <a:r>
              <a:t>3. Dynamic Provisioning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ASR attaches replica disks and creates vm-app-secondary on vnet-dr-westus.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B192C"/>
                </a:solidFill>
                <a:latin typeface="Segoe UI"/>
              </a:defRPr>
            </a:pPr>
            <a:r>
              <a:t>4. Application Boot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Multi-tier plan boots Database Tier first, then validates and boots Web 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B192C"/>
                </a:solidFill>
                <a:latin typeface="Segoe UI"/>
              </a:defRPr>
            </a:pPr>
            <a:r>
              <a:t>5. Traffic Redirection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DNS / Traffic Manager points clients to West US endpoint; operations restored.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B192C"/>
                </a:solidFill>
                <a:latin typeface="Segoe UI"/>
              </a:defRPr>
            </a:pPr>
            <a:r>
              <a:t>6. Re-protect &amp; Failback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Reverse replication syncs new delta changes back to East US; graceful failback executed.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AZURE SITE RECOVERY FAILOVER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Testing Strategy &amp; Validated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Azure Site Recovery Failover Plan  |  Department of Computer Science &amp; Engineering  |  Slide 11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500" b="1">
                <a:solidFill>
                  <a:srgbClr val="0078D4"/>
                </a:solidFill>
                <a:latin typeface="Segoe UI"/>
              </a:defRPr>
            </a:pPr>
            <a:r>
              <a:t>Non-Disruptive Test Drill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Executed in isolated sandbox (vnet-testdr-westus: 10.30.0.0/16)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Zero impact on live user transactions in East US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Continuous replication remains active during entire test drill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Automatic cleanup unmounts temporary test VMs upon completion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500" b="1">
                <a:solidFill>
                  <a:srgbClr val="107C41"/>
                </a:solidFill>
                <a:latin typeface="Segoe UI"/>
              </a:defRPr>
            </a:pPr>
            <a:r>
              <a:t>Application Validation Checks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Compute Status: Verification of VM provisioning and agent health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Network Ingress: HTTP (Port 80) and HTTPS (Port 443) verification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Health Endpoint: HTTP 200 OK returned on /health URI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Data Consistency: Relational table row counts and transaction logs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500" b="1">
                <a:solidFill>
                  <a:srgbClr val="7C3AED"/>
                </a:solidFill>
                <a:latin typeface="Segoe UI"/>
              </a:defRPr>
            </a:pPr>
            <a:r>
              <a:t>SLA Performance Benchmark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Recovery Point Objective: Met SLA (&lt; 15 mins; achieved ~3 mins)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Recovery Time Objective: Met SLA (&lt; 30 mins; achieved ~8 mins)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Data Integrity: Zero lost transactions during planned drill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Reverse Sync: 100% data fidelity preserved upon primary return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AZURE SITE RECOVERY FAILOVER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Conclusion &amp; Academic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Azure Site Recovery Failover Plan  |  Department of Computer Science &amp; Engineering  |  Slide 12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B192C"/>
                </a:solidFill>
                <a:latin typeface="Segoe UI"/>
              </a:defRPr>
            </a:pPr>
            <a:r>
              <a:t>PROJECT SUMMARY &amp; STRATEGIC TAKEAWAYS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Architectural Resilience: Proved that Azure Site Recovery delivers enterprise-grade multi-region disaster recovery for mission-critical business applications without duplicate compute costs.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Deterministic Recovery: Sequential recovery plans prevent application startup race conditions, ensuring database readiness before web tier activation.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Zero-Risk Compliance: Isolated test virtual networks empower organizations to conduct frequent, audited DR drills without risking live customer operations.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Automated Cloud Operations: Parameterized Azure CLI scripts ensure that every phase of deployment, replication, failover, and failback is repeatable, secure, and auditable.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Full Academic Compliance: Fully satisfies all university project specifications, delivering comprehensive technical documentation, architecture topology, runbooks, and automation scripts.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